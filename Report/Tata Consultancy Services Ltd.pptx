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esktop\TC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esktop\TC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esktop\TC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Revenue</a:t>
            </a:r>
            <a:r>
              <a:rPr lang="en-IN" baseline="0"/>
              <a:t> Growth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'Historical Financials'!$C$15:$E$15</c:f>
              <c:numCache>
                <c:formatCode>0.00%</c:formatCode>
                <c:ptCount val="3"/>
                <c:pt idx="0">
                  <c:v>0.17576686796624844</c:v>
                </c:pt>
                <c:pt idx="1">
                  <c:v>6.8460644554639891E-2</c:v>
                </c:pt>
                <c:pt idx="2">
                  <c:v>5.9906265437351856E-2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5D2-4383-9659-F4330FFC99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3570575"/>
        <c:axId val="2059200783"/>
      </c:lineChart>
      <c:catAx>
        <c:axId val="1535705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9200783"/>
        <c:crosses val="autoZero"/>
        <c:auto val="1"/>
        <c:lblAlgn val="ctr"/>
        <c:lblOffset val="100"/>
        <c:noMultiLvlLbl val="0"/>
      </c:catAx>
      <c:valAx>
        <c:axId val="2059200783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5705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EBIT</a:t>
            </a:r>
            <a:r>
              <a:rPr lang="en-IN" baseline="0"/>
              <a:t> Margin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'Historical Financials'!$B$4:$E$4</c:f>
              <c:numCache>
                <c:formatCode>0.00%</c:formatCode>
                <c:ptCount val="4"/>
                <c:pt idx="0">
                  <c:v>0.27669305464292793</c:v>
                </c:pt>
                <c:pt idx="1">
                  <c:v>0.26283831134845514</c:v>
                </c:pt>
                <c:pt idx="2">
                  <c:v>0.26690688396923118</c:v>
                </c:pt>
                <c:pt idx="3">
                  <c:v>0.26400573389105608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3C-417C-93EC-67BB283A8B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3610479"/>
        <c:axId val="1803251183"/>
      </c:barChart>
      <c:catAx>
        <c:axId val="1536104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3251183"/>
        <c:crosses val="autoZero"/>
        <c:auto val="1"/>
        <c:lblAlgn val="ctr"/>
        <c:lblOffset val="100"/>
        <c:noMultiLvlLbl val="0"/>
      </c:catAx>
      <c:valAx>
        <c:axId val="1803251183"/>
        <c:scaling>
          <c:orientation val="minMax"/>
        </c:scaling>
        <c:delete val="0"/>
        <c:axPos val="b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610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Free</a:t>
            </a:r>
            <a:r>
              <a:rPr lang="en-IN" baseline="0"/>
              <a:t> Cash Flow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'Historical Financials'!$B$10:$E$10</c:f>
              <c:numCache>
                <c:formatCode>_(* #,##0.00_);_(* \(#,##0.00\);_(* "-"??_);_(@_)</c:formatCode>
                <c:ptCount val="4"/>
                <c:pt idx="0">
                  <c:v>38130.117573084142</c:v>
                </c:pt>
                <c:pt idx="1">
                  <c:v>49603.408034160995</c:v>
                </c:pt>
                <c:pt idx="2">
                  <c:v>42339.463377260188</c:v>
                </c:pt>
                <c:pt idx="3">
                  <c:v>43893.604950176785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FCD-4845-83B1-CBD1ADC69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3575215"/>
        <c:axId val="1811382703"/>
      </c:lineChart>
      <c:catAx>
        <c:axId val="153575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11382703"/>
        <c:crosses val="autoZero"/>
        <c:auto val="1"/>
        <c:lblAlgn val="ctr"/>
        <c:lblOffset val="100"/>
        <c:noMultiLvlLbl val="0"/>
      </c:catAx>
      <c:valAx>
        <c:axId val="1811382703"/>
        <c:scaling>
          <c:orientation val="minMax"/>
        </c:scaling>
        <c:delete val="0"/>
        <c:axPos val="l"/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5752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F937-D918-CE61-253A-E6B148F19A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BD0CA4-D237-B731-944F-7C597E8889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CBA66-9220-3A77-3AF7-DFC73946D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95515-C6C1-4CD5-8894-6E1AD2DEF1F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FA450-6A5D-6852-38EA-A5827E4D5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51646-B998-EE13-6D56-93A35BB63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289C5-3A56-4A26-B8CB-326837918F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9579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BF215-E4B4-0754-2EB1-F2B7A97CB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7693A-9C2D-7CA2-DAB6-514F7E8D5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B7851-EEFA-E6E5-7BC2-99B004EF0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95515-C6C1-4CD5-8894-6E1AD2DEF1F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D837E-FB4C-3F89-8DBA-C8B10756C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97BDF-F848-2079-BC5B-C0C90CB55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289C5-3A56-4A26-B8CB-326837918F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372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70855-27E2-E0E4-B620-9F577A29C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2269B-B396-4CC3-C542-49B1D13F38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F6088-D96B-40ED-CC9C-D74BBDEF4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95515-C6C1-4CD5-8894-6E1AD2DEF1F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FD603-1163-6F6D-82A7-88C1538D6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3CB1C-67C4-0FF4-330E-B54EBC37F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289C5-3A56-4A26-B8CB-326837918F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083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DDB0-CC13-E2B4-AC18-5B1A3E12C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2D685-F0E3-5C4D-0D24-A35B9953BF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E2C00B-42A4-AA39-0291-49FE88474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52EA94-53BF-210F-139C-947A6CD71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95515-C6C1-4CD5-8894-6E1AD2DEF1F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C4F6C-CCC2-5871-9780-422103D9B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4C5497-F37D-65DD-1865-F312C026E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289C5-3A56-4A26-B8CB-326837918F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14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0656A-C9D1-D3F2-7FFD-4246BC3B1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63659-B858-75EB-3737-27FD87925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C74980-E50C-1843-667F-0BD9303914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BFB7EA-B90D-F4AF-429D-FC7C4FECC2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F13DA6-184F-6C6E-C45E-9B0F46B519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1A9C21-CD03-049D-DD2E-9DF41D20C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95515-C6C1-4CD5-8894-6E1AD2DEF1F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9D0F4B-4AF9-274C-83E7-EF2537307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4F2278-5684-0BEE-1746-58E936FD9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289C5-3A56-4A26-B8CB-326837918F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430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3F506-AE01-A282-0D9D-9C68247E5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449A3-4C76-A6AF-37C5-1E5F790E3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95515-C6C1-4CD5-8894-6E1AD2DEF1F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533773-C55D-133F-963B-5648763CA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5454AC-1C24-F4E8-1672-8FA6139A3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289C5-3A56-4A26-B8CB-326837918F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723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78334F-6ACA-C1F8-9C8E-3192DE4E6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95515-C6C1-4CD5-8894-6E1AD2DEF1F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178848-1ADE-91EA-E1AB-DB89FF65B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B4A21-0710-DE28-5C7A-203BF7DEA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289C5-3A56-4A26-B8CB-326837918F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0858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973D7-D12A-E243-2497-60107E6AE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16E3E-D81F-30A6-0615-AE425CC40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169BE-F22E-FDE5-6AF2-B336A92F3B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A012B3-C678-19FB-8176-665E88507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95515-C6C1-4CD5-8894-6E1AD2DEF1F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122F33-9251-CE3B-CF9E-7AABD13B8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E6DDEE-D437-B4EF-42C9-9DAF39C17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289C5-3A56-4A26-B8CB-326837918F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465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581C0-9B03-6DC3-3426-B33F683CF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EFFC0D-F784-7726-B7AA-BD867AB5AD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3DECD6-0D7B-3C34-D27E-C5FD74DAE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AADB2-3A6C-C007-7AE0-E0B6622C8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95515-C6C1-4CD5-8894-6E1AD2DEF1F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E03D6-0839-1170-5A6D-9D771C6A2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6F5787-41EC-535E-8F86-31DA90840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289C5-3A56-4A26-B8CB-326837918F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924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E7002-2139-CCC3-B191-4B679FDA1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3639F8-14F9-8338-2018-E62323FEAA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073A2-62BB-3DBD-F5E6-42AE015F0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95515-C6C1-4CD5-8894-6E1AD2DEF1F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F0BF8-7331-6DF9-4ADC-0513ED227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E9697-2892-0774-409B-E3365120D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289C5-3A56-4A26-B8CB-326837918F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0086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9609D3-677F-88D6-3F2D-1A3A539E09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43368F-0E68-B7E2-0EB8-C403D7562A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9F74C-F3B0-8B25-6DC1-4999349FA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95515-C6C1-4CD5-8894-6E1AD2DEF1F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3793F-7531-6B2D-D0F9-A06065913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2A43C-9C83-F887-AFF5-26BBC63F7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289C5-3A56-4A26-B8CB-326837918F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14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00493D-0BA3-3052-24CE-CDE3396BB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37033-583A-C47E-0548-E24B68108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1A79D-ECC9-2913-2A03-21B0BF91CA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495515-C6C1-4CD5-8894-6E1AD2DEF1F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5EEA3-0F63-3CBF-EE0E-D6D0BF105D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EBB91-7750-F92A-6898-96F62B8708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0289C5-3A56-4A26-B8CB-326837918F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090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2E25E-4D3D-F373-5595-EEF6B1F23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568" y="201167"/>
            <a:ext cx="11186160" cy="1088137"/>
          </a:xfrm>
        </p:spPr>
        <p:txBody>
          <a:bodyPr/>
          <a:lstStyle/>
          <a:p>
            <a:r>
              <a:rPr lang="en-IN" dirty="0"/>
              <a:t>Tata Consultancy Services Ltd. (TCS)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484557-B632-68E9-04F3-835BFE2EB4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36" y="1773238"/>
            <a:ext cx="9144000" cy="1655762"/>
          </a:xfrm>
        </p:spPr>
        <p:txBody>
          <a:bodyPr/>
          <a:lstStyle/>
          <a:p>
            <a:pPr algn="l"/>
            <a:r>
              <a:rPr lang="en-IN" dirty="0"/>
              <a:t>Equity Research Report</a:t>
            </a:r>
          </a:p>
          <a:p>
            <a:pPr algn="l"/>
            <a:r>
              <a:rPr lang="en-IN" dirty="0"/>
              <a:t>Discounted Cash Flow (DCF) Valuation</a:t>
            </a:r>
          </a:p>
          <a:p>
            <a:pPr algn="l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21FA87-5F8E-AF09-14E4-A108EDCA25DA}"/>
              </a:ext>
            </a:extLst>
          </p:cNvPr>
          <p:cNvSpPr txBox="1"/>
          <p:nvPr/>
        </p:nvSpPr>
        <p:spPr>
          <a:xfrm>
            <a:off x="8481060" y="5373546"/>
            <a:ext cx="4061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Prepared by: </a:t>
            </a:r>
            <a:r>
              <a:rPr lang="en-IN" b="1" dirty="0"/>
              <a:t>Harsh </a:t>
            </a:r>
            <a:r>
              <a:rPr lang="en-IN" b="1" dirty="0" err="1"/>
              <a:t>Gaggar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July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97E275-0753-A297-BD36-21CA7BADDAB2}"/>
              </a:ext>
            </a:extLst>
          </p:cNvPr>
          <p:cNvSpPr txBox="1"/>
          <p:nvPr/>
        </p:nvSpPr>
        <p:spPr>
          <a:xfrm>
            <a:off x="2482596" y="6260514"/>
            <a:ext cx="6172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/>
              <a:t>Prepared for educational and portfolio purposes.</a:t>
            </a:r>
          </a:p>
          <a:p>
            <a:endParaRPr lang="en-IN" dirty="0"/>
          </a:p>
        </p:txBody>
      </p:sp>
      <p:pic>
        <p:nvPicPr>
          <p:cNvPr id="8" name="Picture 7" descr="Logos Download | Tata Consultancy Services">
            <a:extLst>
              <a:ext uri="{FF2B5EF4-FFF2-40B4-BE49-F238E27FC236}">
                <a16:creationId xmlns:a16="http://schemas.microsoft.com/office/drawing/2014/main" id="{D4C6B004-2600-77BE-4C54-3C7C2C86B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7964" y="2852811"/>
            <a:ext cx="3141463" cy="19919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271613-4436-B729-4B50-510BDF69358E}"/>
              </a:ext>
            </a:extLst>
          </p:cNvPr>
          <p:cNvSpPr txBox="1"/>
          <p:nvPr/>
        </p:nvSpPr>
        <p:spPr>
          <a:xfrm>
            <a:off x="6364223" y="1437054"/>
            <a:ext cx="489204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Executive Summary</a:t>
            </a:r>
          </a:p>
          <a:p>
            <a:pPr>
              <a:buNone/>
            </a:pPr>
            <a:r>
              <a:rPr lang="en-IN" b="1" dirty="0"/>
              <a:t>Company:</a:t>
            </a:r>
            <a:r>
              <a:rPr lang="en-IN" dirty="0"/>
              <a:t> Tata Consultancy Services</a:t>
            </a:r>
          </a:p>
          <a:p>
            <a:pPr>
              <a:buNone/>
            </a:pPr>
            <a:r>
              <a:rPr lang="en-IN" b="1" dirty="0"/>
              <a:t>Method:</a:t>
            </a:r>
            <a:r>
              <a:rPr lang="en-IN" dirty="0"/>
              <a:t> Discounted Cash Flow (DCF)</a:t>
            </a:r>
          </a:p>
          <a:p>
            <a:pPr>
              <a:buNone/>
            </a:pPr>
            <a:r>
              <a:rPr lang="en-IN" b="1" dirty="0"/>
              <a:t>Forecast:</a:t>
            </a:r>
            <a:r>
              <a:rPr lang="en-IN" dirty="0"/>
              <a:t> FY26–FY30</a:t>
            </a:r>
          </a:p>
          <a:p>
            <a:pPr>
              <a:buNone/>
            </a:pPr>
            <a:r>
              <a:rPr lang="en-IN" b="1" dirty="0"/>
              <a:t>Intrinsic Value:</a:t>
            </a:r>
            <a:r>
              <a:rPr lang="en-IN" dirty="0"/>
              <a:t> ₹2,049.71/share</a:t>
            </a:r>
          </a:p>
        </p:txBody>
      </p:sp>
    </p:spTree>
    <p:extLst>
      <p:ext uri="{BB962C8B-B14F-4D97-AF65-F5344CB8AC3E}">
        <p14:creationId xmlns:p14="http://schemas.microsoft.com/office/powerpoint/2010/main" val="3314942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F55D3-2368-EEEA-B328-5F967DF3C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Company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F99C4-226B-136C-4039-C4DE638DA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IN" sz="1500" b="1" dirty="0"/>
              <a:t>Tata Consultancy Services (TCS)</a:t>
            </a:r>
            <a:r>
              <a:rPr lang="en-IN" sz="1500" dirty="0"/>
              <a:t> is India's largest IT services and consulting company and a flagship enterprise of the Tata Group. The company provides a wide range of technology solutions, including software development, cloud computing, artificial intelligence, cybersecurity, digital transformation, and business process outsourcing, serving clients across multiple industries worldwide.</a:t>
            </a:r>
          </a:p>
          <a:p>
            <a:endParaRPr lang="en-IN" dirty="0"/>
          </a:p>
        </p:txBody>
      </p:sp>
      <p:pic>
        <p:nvPicPr>
          <p:cNvPr id="5" name="Picture 4" descr="Logos Download | Tata Consultancy Services">
            <a:extLst>
              <a:ext uri="{FF2B5EF4-FFF2-40B4-BE49-F238E27FC236}">
                <a16:creationId xmlns:a16="http://schemas.microsoft.com/office/drawing/2014/main" id="{F352A765-6A65-9C85-32C3-4A46A375C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4917" y="62480"/>
            <a:ext cx="2228587" cy="1413107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BB232ED-AAAF-F589-E27B-21939C0E79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738530"/>
              </p:ext>
            </p:extLst>
          </p:nvPr>
        </p:nvGraphicFramePr>
        <p:xfrm>
          <a:off x="1172464" y="2622232"/>
          <a:ext cx="8128000" cy="2545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85573919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8307400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Particular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Details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1881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Founded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1968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758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Headquarters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Mumbai, India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4690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Parent Company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Tata Group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5547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Industry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Information Technology Services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9655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Operations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55+ Countries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6147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Employees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600,000+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93791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81EBE8E-AC0D-F0E0-A409-173A8A83C099}"/>
              </a:ext>
            </a:extLst>
          </p:cNvPr>
          <p:cNvSpPr txBox="1"/>
          <p:nvPr/>
        </p:nvSpPr>
        <p:spPr>
          <a:xfrm>
            <a:off x="1172464" y="5167312"/>
            <a:ext cx="6094476" cy="1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Investment Thesis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/>
              <a:t>Market leader in India's IT services industry.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/>
              <a:t>Strong and consistent free cash flow generation.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/>
              <a:t>Diversified global client base.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/>
              <a:t>Healthy operating margins and balance sheet.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/>
              <a:t>Long-term growth supported by digital transformation and AI adoption.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98C13F-C1B9-F755-B67D-1F3275708F37}"/>
              </a:ext>
            </a:extLst>
          </p:cNvPr>
          <p:cNvSpPr txBox="1"/>
          <p:nvPr/>
        </p:nvSpPr>
        <p:spPr>
          <a:xfrm>
            <a:off x="8306562" y="6552307"/>
            <a:ext cx="36446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i="1" dirty="0"/>
              <a:t>Harsh </a:t>
            </a:r>
            <a:r>
              <a:rPr lang="en-IN" sz="1200" i="1" dirty="0" err="1"/>
              <a:t>Gaggar</a:t>
            </a:r>
            <a:r>
              <a:rPr lang="en-IN" sz="1200" i="1" dirty="0"/>
              <a:t> | Equity Research Report | July 2026</a:t>
            </a:r>
          </a:p>
        </p:txBody>
      </p:sp>
    </p:spTree>
    <p:extLst>
      <p:ext uri="{BB962C8B-B14F-4D97-AF65-F5344CB8AC3E}">
        <p14:creationId xmlns:p14="http://schemas.microsoft.com/office/powerpoint/2010/main" val="3880805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98916-6865-EB02-37CD-3BCAD169F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048" y="68389"/>
            <a:ext cx="10515600" cy="1009651"/>
          </a:xfrm>
        </p:spPr>
        <p:txBody>
          <a:bodyPr/>
          <a:lstStyle/>
          <a:p>
            <a:r>
              <a:rPr lang="en-IN" b="1" dirty="0"/>
              <a:t>Historical Financial Performance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1F929-25A0-333A-7AAD-1887A748F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352" y="966089"/>
            <a:ext cx="10099949" cy="417747"/>
          </a:xfrm>
        </p:spPr>
        <p:txBody>
          <a:bodyPr/>
          <a:lstStyle/>
          <a:p>
            <a:r>
              <a:rPr lang="en-IN" sz="1500" i="1" dirty="0" err="1"/>
              <a:t>Analyzing</a:t>
            </a:r>
            <a:r>
              <a:rPr lang="en-IN" sz="1500" i="1" dirty="0"/>
              <a:t> TCS's financial performance (FY22–FY25) to understand historical trends and support future projections.</a:t>
            </a:r>
            <a:endParaRPr lang="en-IN" sz="1500" dirty="0"/>
          </a:p>
          <a:p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723DA31-7B35-5A0F-4C41-B8A5FD6CF9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5242031"/>
              </p:ext>
            </p:extLst>
          </p:nvPr>
        </p:nvGraphicFramePr>
        <p:xfrm>
          <a:off x="1042764" y="1397733"/>
          <a:ext cx="252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148FF7B-1E07-3B02-4990-120E0961E4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5156436"/>
              </p:ext>
            </p:extLst>
          </p:nvPr>
        </p:nvGraphicFramePr>
        <p:xfrm>
          <a:off x="911352" y="4560267"/>
          <a:ext cx="252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081F5CA-A372-4E90-3756-6BCCE85091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7143562"/>
              </p:ext>
            </p:extLst>
          </p:nvPr>
        </p:nvGraphicFramePr>
        <p:xfrm>
          <a:off x="6240650" y="1341758"/>
          <a:ext cx="252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839278B-DAE3-2160-5DB8-7503097CEED8}"/>
              </a:ext>
            </a:extLst>
          </p:cNvPr>
          <p:cNvSpPr txBox="1"/>
          <p:nvPr/>
        </p:nvSpPr>
        <p:spPr>
          <a:xfrm>
            <a:off x="6320750" y="3115028"/>
            <a:ext cx="42774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 dirty="0"/>
              <a:t>Observations</a:t>
            </a:r>
            <a:endParaRPr lang="en-IN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/>
              <a:t>TCS generated consistently positive free cash flows across the historical period.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/>
              <a:t>Strong cash generation provides flexibility for shareholder returns, acquisitions, and future investments.</a:t>
            </a: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309D92-AD0C-6AEA-07F3-FEFF08F462AA}"/>
              </a:ext>
            </a:extLst>
          </p:cNvPr>
          <p:cNvSpPr txBox="1"/>
          <p:nvPr/>
        </p:nvSpPr>
        <p:spPr>
          <a:xfrm>
            <a:off x="859708" y="3197733"/>
            <a:ext cx="5552974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 dirty="0"/>
              <a:t>Observations</a:t>
            </a:r>
            <a:endParaRPr lang="en-IN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/>
              <a:t>Revenue increased consistently over the historical period, reflecting TCS's stable business model and diversified client base.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/>
              <a:t>Growth remained positive despite a challenging macroeconomic environment, demonstrating resilience in demand for IT services. </a:t>
            </a:r>
          </a:p>
          <a:p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EB64979-4A33-C31D-0100-D3C921A918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302671"/>
              </p:ext>
            </p:extLst>
          </p:nvPr>
        </p:nvGraphicFramePr>
        <p:xfrm>
          <a:off x="3940049" y="4653146"/>
          <a:ext cx="633780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8904">
                  <a:extLst>
                    <a:ext uri="{9D8B030D-6E8A-4147-A177-3AD203B41FA5}">
                      <a16:colId xmlns:a16="http://schemas.microsoft.com/office/drawing/2014/main" val="3163478684"/>
                    </a:ext>
                  </a:extLst>
                </a:gridCol>
                <a:gridCol w="3168904">
                  <a:extLst>
                    <a:ext uri="{9D8B030D-6E8A-4147-A177-3AD203B41FA5}">
                      <a16:colId xmlns:a16="http://schemas.microsoft.com/office/drawing/2014/main" val="1278875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Observation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6972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Revenue Trend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Stable year-on-year growth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2810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EBIT Margin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Consistently around 26–27%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485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Free Cash 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Positive across all available years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9108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Profitability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Strong operating performance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72776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C7BC630-37D2-164D-0DE8-14CB68FFD86C}"/>
              </a:ext>
            </a:extLst>
          </p:cNvPr>
          <p:cNvSpPr txBox="1"/>
          <p:nvPr/>
        </p:nvSpPr>
        <p:spPr>
          <a:xfrm>
            <a:off x="8306562" y="6552307"/>
            <a:ext cx="36446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i="1" dirty="0"/>
              <a:t>Harsh </a:t>
            </a:r>
            <a:r>
              <a:rPr lang="en-IN" sz="1200" i="1" dirty="0" err="1"/>
              <a:t>Gaggar</a:t>
            </a:r>
            <a:r>
              <a:rPr lang="en-IN" sz="1200" i="1" dirty="0"/>
              <a:t> | Equity Research Report | July 2026</a:t>
            </a:r>
          </a:p>
        </p:txBody>
      </p:sp>
    </p:spTree>
    <p:extLst>
      <p:ext uri="{BB962C8B-B14F-4D97-AF65-F5344CB8AC3E}">
        <p14:creationId xmlns:p14="http://schemas.microsoft.com/office/powerpoint/2010/main" val="1485074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EBAC3-DD4D-5B27-EFC6-193A03055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682" y="124494"/>
            <a:ext cx="12008318" cy="992038"/>
          </a:xfrm>
        </p:spPr>
        <p:txBody>
          <a:bodyPr/>
          <a:lstStyle/>
          <a:p>
            <a:r>
              <a:rPr lang="en-IN" dirty="0"/>
              <a:t>Discounted Cash Flow (DCF) Valuation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F301D-0E11-8722-825A-E89B35348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060" y="931764"/>
            <a:ext cx="4301691" cy="1603375"/>
          </a:xfrm>
        </p:spPr>
        <p:txBody>
          <a:bodyPr/>
          <a:lstStyle/>
          <a:p>
            <a:pPr marL="0" indent="0">
              <a:buNone/>
            </a:pPr>
            <a:r>
              <a:rPr lang="en-IN" sz="1500" dirty="0"/>
              <a:t>The Discounted Cash Flow (DCF) method estimates a company's intrinsic value by forecasting future Free Cash Flows (FCF) and discounting them to their present value using the Weighted Average Cost of Capital (WACC). A terminal value is then calculated to capture cash flows beyond the forecast period.</a:t>
            </a:r>
          </a:p>
          <a:p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70E6134-DE85-DD54-AA6F-392A2AFFBB47}"/>
              </a:ext>
            </a:extLst>
          </p:cNvPr>
          <p:cNvSpPr/>
          <p:nvPr/>
        </p:nvSpPr>
        <p:spPr>
          <a:xfrm>
            <a:off x="7114194" y="866276"/>
            <a:ext cx="2184935" cy="5005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/>
              <a:t>Historical Financials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F52739E-6B0B-D36C-0A5B-544130323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802402"/>
              </p:ext>
            </p:extLst>
          </p:nvPr>
        </p:nvGraphicFramePr>
        <p:xfrm>
          <a:off x="1411838" y="2182344"/>
          <a:ext cx="4301692" cy="3607079"/>
        </p:xfrm>
        <a:graphic>
          <a:graphicData uri="http://schemas.openxmlformats.org/drawingml/2006/table">
            <a:tbl>
              <a:tblPr/>
              <a:tblGrid>
                <a:gridCol w="2150846">
                  <a:extLst>
                    <a:ext uri="{9D8B030D-6E8A-4147-A177-3AD203B41FA5}">
                      <a16:colId xmlns:a16="http://schemas.microsoft.com/office/drawing/2014/main" val="3673790346"/>
                    </a:ext>
                  </a:extLst>
                </a:gridCol>
                <a:gridCol w="2150846">
                  <a:extLst>
                    <a:ext uri="{9D8B030D-6E8A-4147-A177-3AD203B41FA5}">
                      <a16:colId xmlns:a16="http://schemas.microsoft.com/office/drawing/2014/main" val="4032984688"/>
                    </a:ext>
                  </a:extLst>
                </a:gridCol>
              </a:tblGrid>
              <a:tr h="277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/>
                        <a:t>Assumption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500" b="1" dirty="0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6108587"/>
                  </a:ext>
                </a:extLst>
              </a:tr>
              <a:tr h="277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Forecast Period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500" dirty="0"/>
                        <a:t>FY26–FY30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166743"/>
                  </a:ext>
                </a:extLst>
              </a:tr>
              <a:tr h="277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Revenue Growth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500"/>
                        <a:t>8%, 8%, 7%, 7%, 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3566863"/>
                  </a:ext>
                </a:extLst>
              </a:tr>
              <a:tr h="277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EBIT Margin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500"/>
                        <a:t>26.5%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3440594"/>
                  </a:ext>
                </a:extLst>
              </a:tr>
              <a:tr h="277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Tax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500"/>
                        <a:t>25.3%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131927"/>
                  </a:ext>
                </a:extLst>
              </a:tr>
              <a:tr h="445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Depreciation (% Sales)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500" dirty="0"/>
                        <a:t>2.2%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8703745"/>
                  </a:ext>
                </a:extLst>
              </a:tr>
              <a:tr h="277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CapEx (% Sales)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500" dirty="0"/>
                        <a:t>2.5%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9315931"/>
                  </a:ext>
                </a:extLst>
              </a:tr>
              <a:tr h="4754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Working Capital (% Sales)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500"/>
                        <a:t>19%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7905417"/>
                  </a:ext>
                </a:extLst>
              </a:tr>
              <a:tr h="277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WACC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500" b="1" dirty="0"/>
                        <a:t>11%</a:t>
                      </a:r>
                      <a:endParaRPr lang="en-IN" sz="15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836535"/>
                  </a:ext>
                </a:extLst>
              </a:tr>
              <a:tr h="445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Terminal Growth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500" b="1" dirty="0"/>
                        <a:t>3%</a:t>
                      </a:r>
                      <a:endParaRPr lang="en-IN" sz="15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2250857"/>
                  </a:ext>
                </a:extLst>
              </a:tr>
            </a:tbl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9EFB113-EE77-808A-14E4-D80A66521CD6}"/>
              </a:ext>
            </a:extLst>
          </p:cNvPr>
          <p:cNvSpPr/>
          <p:nvPr/>
        </p:nvSpPr>
        <p:spPr>
          <a:xfrm>
            <a:off x="7114194" y="1608058"/>
            <a:ext cx="2184935" cy="5005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Financial Forecast (FY26–FY30)</a:t>
            </a:r>
            <a:endParaRPr lang="en-IN" sz="15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A673822-A30E-7C87-8660-19577783CD59}"/>
              </a:ext>
            </a:extLst>
          </p:cNvPr>
          <p:cNvSpPr/>
          <p:nvPr/>
        </p:nvSpPr>
        <p:spPr>
          <a:xfrm>
            <a:off x="7125419" y="5324402"/>
            <a:ext cx="2184935" cy="5005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Equity Value</a:t>
            </a:r>
            <a:endParaRPr lang="en-IN" sz="15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6B69FA4-439E-FBCE-F618-77499F8F7670}"/>
              </a:ext>
            </a:extLst>
          </p:cNvPr>
          <p:cNvSpPr/>
          <p:nvPr/>
        </p:nvSpPr>
        <p:spPr>
          <a:xfrm>
            <a:off x="7125419" y="4591074"/>
            <a:ext cx="2184935" cy="5005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Enterprise Value</a:t>
            </a:r>
            <a:endParaRPr lang="en-IN" sz="15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24920CD-0BFF-8A15-1F89-C39F4C44F28D}"/>
              </a:ext>
            </a:extLst>
          </p:cNvPr>
          <p:cNvSpPr/>
          <p:nvPr/>
        </p:nvSpPr>
        <p:spPr>
          <a:xfrm>
            <a:off x="7125419" y="3852981"/>
            <a:ext cx="2184935" cy="5005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Terminal Value (g = 3%)</a:t>
            </a:r>
            <a:endParaRPr lang="en-IN" sz="15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048AE04-E8CA-2E0B-3A07-D9F2F013557A}"/>
              </a:ext>
            </a:extLst>
          </p:cNvPr>
          <p:cNvSpPr/>
          <p:nvPr/>
        </p:nvSpPr>
        <p:spPr>
          <a:xfrm>
            <a:off x="7125419" y="3112926"/>
            <a:ext cx="2184935" cy="5005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Discount Future Cash Flows (WACC = 11%) </a:t>
            </a:r>
            <a:endParaRPr lang="en-IN" sz="15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0C8B6AF-6F4A-12EE-6F53-F08304F4C8BE}"/>
              </a:ext>
            </a:extLst>
          </p:cNvPr>
          <p:cNvSpPr/>
          <p:nvPr/>
        </p:nvSpPr>
        <p:spPr>
          <a:xfrm>
            <a:off x="7125419" y="2358826"/>
            <a:ext cx="2184935" cy="5005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Free Cash Flow (FCF)</a:t>
            </a:r>
            <a:endParaRPr lang="en-IN" sz="15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CE70DA2-DF0A-8ADC-B9E9-9DFD8D3444A2}"/>
              </a:ext>
            </a:extLst>
          </p:cNvPr>
          <p:cNvSpPr/>
          <p:nvPr/>
        </p:nvSpPr>
        <p:spPr>
          <a:xfrm>
            <a:off x="7125419" y="6051104"/>
            <a:ext cx="2184935" cy="5005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I</a:t>
            </a:r>
            <a:r>
              <a:rPr lang="en-IN" sz="1500" dirty="0" err="1"/>
              <a:t>ntrinsic</a:t>
            </a:r>
            <a:r>
              <a:rPr lang="en-IN" sz="1500" dirty="0"/>
              <a:t> Value per Share</a:t>
            </a: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D1754615-BB60-BBA2-251F-A776AC0AF16B}"/>
              </a:ext>
            </a:extLst>
          </p:cNvPr>
          <p:cNvSpPr/>
          <p:nvPr/>
        </p:nvSpPr>
        <p:spPr>
          <a:xfrm>
            <a:off x="7933920" y="1366788"/>
            <a:ext cx="450784" cy="23281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9BEA1347-7C66-809B-B139-4874B3D05097}"/>
              </a:ext>
            </a:extLst>
          </p:cNvPr>
          <p:cNvSpPr/>
          <p:nvPr/>
        </p:nvSpPr>
        <p:spPr>
          <a:xfrm>
            <a:off x="7957203" y="2121775"/>
            <a:ext cx="450784" cy="23281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DA8F84E4-7136-7E8F-8872-4981E073BD8F}"/>
              </a:ext>
            </a:extLst>
          </p:cNvPr>
          <p:cNvSpPr/>
          <p:nvPr/>
        </p:nvSpPr>
        <p:spPr>
          <a:xfrm>
            <a:off x="7957203" y="2864620"/>
            <a:ext cx="450784" cy="23281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BA1E82CC-D8B9-3DF6-D61F-07EEDBD26500}"/>
              </a:ext>
            </a:extLst>
          </p:cNvPr>
          <p:cNvSpPr/>
          <p:nvPr/>
        </p:nvSpPr>
        <p:spPr>
          <a:xfrm>
            <a:off x="7982869" y="3618203"/>
            <a:ext cx="450784" cy="23281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1D64522A-D675-95FB-F64D-A91F007835A8}"/>
              </a:ext>
            </a:extLst>
          </p:cNvPr>
          <p:cNvSpPr/>
          <p:nvPr/>
        </p:nvSpPr>
        <p:spPr>
          <a:xfrm>
            <a:off x="7992494" y="4358258"/>
            <a:ext cx="450784" cy="23281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211FF4DF-8DFF-4078-6233-18B54E0BEBDE}"/>
              </a:ext>
            </a:extLst>
          </p:cNvPr>
          <p:cNvSpPr/>
          <p:nvPr/>
        </p:nvSpPr>
        <p:spPr>
          <a:xfrm>
            <a:off x="7992494" y="5091586"/>
            <a:ext cx="450784" cy="23281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FD065765-7C50-7F79-7401-6E6650DF660E}"/>
              </a:ext>
            </a:extLst>
          </p:cNvPr>
          <p:cNvSpPr/>
          <p:nvPr/>
        </p:nvSpPr>
        <p:spPr>
          <a:xfrm>
            <a:off x="7992494" y="5818288"/>
            <a:ext cx="450784" cy="23281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048682-A5C7-D279-FEFA-5968F88BEDD5}"/>
              </a:ext>
            </a:extLst>
          </p:cNvPr>
          <p:cNvSpPr txBox="1"/>
          <p:nvPr/>
        </p:nvSpPr>
        <p:spPr>
          <a:xfrm>
            <a:off x="422802" y="5611505"/>
            <a:ext cx="7139448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500" b="1" dirty="0"/>
              <a:t>Key Assumptions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/>
              <a:t>Forecasts are based on historical financial performance and conservative growth expectations.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/>
              <a:t>WACC represents the required rate of return for investors.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/>
              <a:t>Terminal growth is assumed at 3% to reflect long-term sustainable growth.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FCAB81-5A6C-AB7F-C868-168A3C75E07A}"/>
              </a:ext>
            </a:extLst>
          </p:cNvPr>
          <p:cNvSpPr txBox="1"/>
          <p:nvPr/>
        </p:nvSpPr>
        <p:spPr>
          <a:xfrm>
            <a:off x="8306562" y="6552307"/>
            <a:ext cx="36446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i="1" dirty="0"/>
              <a:t>Harsh </a:t>
            </a:r>
            <a:r>
              <a:rPr lang="en-IN" sz="1200" i="1" dirty="0" err="1"/>
              <a:t>Gaggar</a:t>
            </a:r>
            <a:r>
              <a:rPr lang="en-IN" sz="1200" i="1" dirty="0"/>
              <a:t> | Equity Research Report | July 2026</a:t>
            </a:r>
          </a:p>
        </p:txBody>
      </p:sp>
    </p:spTree>
    <p:extLst>
      <p:ext uri="{BB962C8B-B14F-4D97-AF65-F5344CB8AC3E}">
        <p14:creationId xmlns:p14="http://schemas.microsoft.com/office/powerpoint/2010/main" val="3154437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F329A-91CC-8C1E-114F-C404EF3A3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128" y="61467"/>
            <a:ext cx="10515600" cy="942467"/>
          </a:xfrm>
        </p:spPr>
        <p:txBody>
          <a:bodyPr/>
          <a:lstStyle/>
          <a:p>
            <a:r>
              <a:rPr lang="en-IN" b="1" dirty="0"/>
              <a:t>Valuation Summary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D604F-B235-D06F-84FC-5505F634F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568" y="991171"/>
            <a:ext cx="6156960" cy="579247"/>
          </a:xfrm>
        </p:spPr>
        <p:txBody>
          <a:bodyPr/>
          <a:lstStyle/>
          <a:p>
            <a:r>
              <a:rPr lang="en-IN" sz="1500" i="1" dirty="0"/>
              <a:t>Results based on the Discounted Cash Flow (DCF) valuation model.</a:t>
            </a:r>
            <a:endParaRPr lang="en-IN" sz="1500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B50FCC9-2AE0-4E38-BF67-C27DF87761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6327323"/>
              </p:ext>
            </p:extLst>
          </p:nvPr>
        </p:nvGraphicFramePr>
        <p:xfrm>
          <a:off x="408432" y="1570418"/>
          <a:ext cx="518769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3848">
                  <a:extLst>
                    <a:ext uri="{9D8B030D-6E8A-4147-A177-3AD203B41FA5}">
                      <a16:colId xmlns:a16="http://schemas.microsoft.com/office/drawing/2014/main" val="3804055171"/>
                    </a:ext>
                  </a:extLst>
                </a:gridCol>
                <a:gridCol w="2593848">
                  <a:extLst>
                    <a:ext uri="{9D8B030D-6E8A-4147-A177-3AD203B41FA5}">
                      <a16:colId xmlns:a16="http://schemas.microsoft.com/office/drawing/2014/main" val="3054306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Metric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Value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0004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Enterprise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/>
                        <a:t>720,423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4503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Cash &amp; Investments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/>
                        <a:t>30,964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5718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Debt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/>
                        <a:t>9,392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135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Equity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/>
                        <a:t>741,995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9480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Shares Outstanding (Cr)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/>
                        <a:t>362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6100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Intrinsic Value / Share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₹2,049.71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262691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A56A104-A73C-7742-B55E-7B4BB012CE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606400"/>
              </p:ext>
            </p:extLst>
          </p:nvPr>
        </p:nvGraphicFramePr>
        <p:xfrm>
          <a:off x="5897372" y="1570418"/>
          <a:ext cx="5493512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6756">
                  <a:extLst>
                    <a:ext uri="{9D8B030D-6E8A-4147-A177-3AD203B41FA5}">
                      <a16:colId xmlns:a16="http://schemas.microsoft.com/office/drawing/2014/main" val="3479460825"/>
                    </a:ext>
                  </a:extLst>
                </a:gridCol>
                <a:gridCol w="2746756">
                  <a:extLst>
                    <a:ext uri="{9D8B030D-6E8A-4147-A177-3AD203B41FA5}">
                      <a16:colId xmlns:a16="http://schemas.microsoft.com/office/drawing/2014/main" val="1256931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Parameter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/>
                        <a:t>Value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6840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Forecast Period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FY26–FY30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380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WACC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2024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Terminal Growth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4417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Valuation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DCF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9423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Intrinsic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₹2,049.71/share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249129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3B43612-9776-2560-70D1-FCA23EF73A17}"/>
              </a:ext>
            </a:extLst>
          </p:cNvPr>
          <p:cNvSpPr txBox="1"/>
          <p:nvPr/>
        </p:nvSpPr>
        <p:spPr>
          <a:xfrm>
            <a:off x="5897372" y="3899662"/>
            <a:ext cx="5753608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Based on the assumptions used in this DCF model, the estimated intrinsic value of </a:t>
            </a:r>
            <a:r>
              <a:rPr lang="en-IN" sz="1300" b="1" dirty="0"/>
              <a:t>TCS is ₹2,049.71 per share</a:t>
            </a:r>
            <a:r>
              <a:rPr lang="en-IN" sz="1300" dirty="0"/>
              <a:t>. The valuation is highly dependent on the forecast assumptions, particularly the WACC and terminal growth rate.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6301212-54DA-E2FE-8AB6-E984B1CDAA8A}"/>
              </a:ext>
            </a:extLst>
          </p:cNvPr>
          <p:cNvSpPr txBox="1">
            <a:spLocks/>
          </p:cNvSpPr>
          <p:nvPr/>
        </p:nvSpPr>
        <p:spPr>
          <a:xfrm>
            <a:off x="515112" y="4732782"/>
            <a:ext cx="10515600" cy="717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/>
              <a:t>K</a:t>
            </a:r>
            <a:r>
              <a:rPr lang="en-IN" sz="2000" b="1" dirty="0" err="1"/>
              <a:t>ey</a:t>
            </a:r>
            <a:r>
              <a:rPr lang="en-IN" sz="2000" b="1" dirty="0"/>
              <a:t> Takeaways</a:t>
            </a:r>
            <a:endParaRPr lang="en-IN" sz="20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2F185B7-0212-EDE8-1D49-241C50C10645}"/>
              </a:ext>
            </a:extLst>
          </p:cNvPr>
          <p:cNvSpPr txBox="1">
            <a:spLocks/>
          </p:cNvSpPr>
          <p:nvPr/>
        </p:nvSpPr>
        <p:spPr>
          <a:xfrm>
            <a:off x="515112" y="5450395"/>
            <a:ext cx="6156960" cy="109670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/>
              <a:t>Built a five-year financial forecast based on historical performance. </a:t>
            </a:r>
          </a:p>
          <a:p>
            <a:r>
              <a:rPr lang="en-IN" sz="1600" dirty="0"/>
              <a:t>Estimated enterprise and equity value using the DCF approach. </a:t>
            </a:r>
          </a:p>
          <a:p>
            <a:r>
              <a:rPr lang="en-IN" sz="1600" dirty="0"/>
              <a:t>Demonstrated how valuation changes with assumptions such as WACC and terminal growth.</a:t>
            </a:r>
            <a:endParaRPr lang="en-IN" sz="1500" dirty="0"/>
          </a:p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81F109-FE93-80CD-29A5-29533F4171C6}"/>
              </a:ext>
            </a:extLst>
          </p:cNvPr>
          <p:cNvSpPr txBox="1"/>
          <p:nvPr/>
        </p:nvSpPr>
        <p:spPr>
          <a:xfrm>
            <a:off x="8306562" y="6552307"/>
            <a:ext cx="36446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i="1" dirty="0"/>
              <a:t>Harsh </a:t>
            </a:r>
            <a:r>
              <a:rPr lang="en-IN" sz="1200" i="1" dirty="0" err="1"/>
              <a:t>Gaggar</a:t>
            </a:r>
            <a:r>
              <a:rPr lang="en-IN" sz="1200" i="1" dirty="0"/>
              <a:t> | Equity Research Report | July 2026</a:t>
            </a:r>
          </a:p>
        </p:txBody>
      </p:sp>
    </p:spTree>
    <p:extLst>
      <p:ext uri="{BB962C8B-B14F-4D97-AF65-F5344CB8AC3E}">
        <p14:creationId xmlns:p14="http://schemas.microsoft.com/office/powerpoint/2010/main" val="35111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16156-59CE-D70C-48ED-34F7761DC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7217664" cy="905891"/>
          </a:xfrm>
        </p:spPr>
        <p:txBody>
          <a:bodyPr/>
          <a:lstStyle/>
          <a:p>
            <a:r>
              <a:rPr lang="en-IN" dirty="0"/>
              <a:t>Investment Risks &amp;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A4589-1B81-62B0-82F5-5F8466C88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536192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500" b="1" dirty="0"/>
              <a:t>1. Global IT Spending Slowdown</a:t>
            </a:r>
          </a:p>
          <a:p>
            <a:r>
              <a:rPr lang="en-IN" sz="1500" dirty="0"/>
              <a:t>A decline in enterprise technology spending could reduce demand for TCS's IT services and consulting business.</a:t>
            </a:r>
          </a:p>
          <a:p>
            <a:pPr marL="0" indent="0">
              <a:buNone/>
            </a:pPr>
            <a:r>
              <a:rPr lang="en-IN" sz="1500" b="1" dirty="0"/>
              <a:t>2. Currency Fluctuations</a:t>
            </a:r>
          </a:p>
          <a:p>
            <a:r>
              <a:rPr lang="en-IN" sz="1500" dirty="0"/>
              <a:t>Since TCS earns a significant portion of its revenue from international markets, exchange rate movements can impact revenue and profitability.</a:t>
            </a:r>
          </a:p>
          <a:p>
            <a:pPr marL="0" indent="0">
              <a:buNone/>
            </a:pPr>
            <a:r>
              <a:rPr lang="en-IN" sz="1500" b="1" dirty="0"/>
              <a:t>3. Margin Pressure</a:t>
            </a:r>
          </a:p>
          <a:p>
            <a:r>
              <a:rPr lang="en-IN" sz="1500" dirty="0"/>
              <a:t>Rising employee costs, wage inflation, and increased competition may affect operating margins over time.</a:t>
            </a:r>
          </a:p>
          <a:p>
            <a:pPr marL="0" indent="0">
              <a:buNone/>
            </a:pPr>
            <a:r>
              <a:rPr lang="en-IN" sz="1500" b="1" dirty="0"/>
              <a:t>4. Technological Disruption</a:t>
            </a:r>
          </a:p>
          <a:p>
            <a:r>
              <a:rPr lang="en-IN" sz="1500" dirty="0"/>
              <a:t>Rapid advancements in AI and automation require continuous investment to remain competitive in the IT services industry.</a:t>
            </a:r>
          </a:p>
          <a:p>
            <a:pPr marL="0" indent="0">
              <a:buNone/>
            </a:pPr>
            <a:endParaRPr lang="en-IN" sz="15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627D4D-EF62-7C38-CFF1-D0E4F4610C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5353" y="1536192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b="1" dirty="0"/>
              <a:t>Assumption Sensitivity</a:t>
            </a:r>
          </a:p>
          <a:p>
            <a:pPr marL="0" indent="0">
              <a:buNone/>
            </a:pPr>
            <a:r>
              <a:rPr lang="en-IN" sz="1600" dirty="0"/>
              <a:t>The DCF valuation depends heavily on assumptions such as:</a:t>
            </a:r>
          </a:p>
          <a:p>
            <a:r>
              <a:rPr lang="en-IN" sz="1600" dirty="0"/>
              <a:t>Revenue Growth </a:t>
            </a:r>
          </a:p>
          <a:p>
            <a:r>
              <a:rPr lang="en-IN" sz="1600" dirty="0"/>
              <a:t>EBIT Margin </a:t>
            </a:r>
          </a:p>
          <a:p>
            <a:r>
              <a:rPr lang="en-IN" sz="1600" dirty="0"/>
              <a:t>WACC </a:t>
            </a:r>
          </a:p>
          <a:p>
            <a:r>
              <a:rPr lang="en-IN" sz="1600" dirty="0"/>
              <a:t>Terminal Growth Rate </a:t>
            </a:r>
          </a:p>
          <a:p>
            <a:pPr marL="0" indent="0">
              <a:buNone/>
            </a:pPr>
            <a:r>
              <a:rPr lang="en-IN" sz="1600" dirty="0"/>
              <a:t>Even small changes in these assumptions can significantly impact the estimated intrinsic value.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Data Source</a:t>
            </a:r>
          </a:p>
          <a:p>
            <a:pPr marL="0" indent="0">
              <a:buNone/>
            </a:pPr>
            <a:r>
              <a:rPr lang="en-IN" sz="1600" dirty="0"/>
              <a:t>Financial data used in this report is based on publicly available information and historical financial statements.</a:t>
            </a:r>
          </a:p>
          <a:p>
            <a:pPr marL="0" indent="0">
              <a:buNone/>
            </a:pPr>
            <a:endParaRPr lang="en-IN" sz="1600" dirty="0"/>
          </a:p>
          <a:p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6D44CE8-46D4-E3D8-96BB-1EA703DE2053}"/>
              </a:ext>
            </a:extLst>
          </p:cNvPr>
          <p:cNvSpPr txBox="1">
            <a:spLocks/>
          </p:cNvSpPr>
          <p:nvPr/>
        </p:nvSpPr>
        <p:spPr>
          <a:xfrm>
            <a:off x="6213347" y="1115251"/>
            <a:ext cx="5245611" cy="3447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/>
              <a:t>Model Limitations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FC02ADC-209E-EA83-878E-8775B08145F4}"/>
              </a:ext>
            </a:extLst>
          </p:cNvPr>
          <p:cNvSpPr txBox="1">
            <a:spLocks/>
          </p:cNvSpPr>
          <p:nvPr/>
        </p:nvSpPr>
        <p:spPr>
          <a:xfrm>
            <a:off x="990599" y="1194816"/>
            <a:ext cx="5245611" cy="3447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500" b="1" dirty="0"/>
              <a:t>Key Business Risks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2EEDCA3-8901-C1D9-1867-3A298F6EC1DA}"/>
              </a:ext>
            </a:extLst>
          </p:cNvPr>
          <p:cNvSpPr txBox="1">
            <a:spLocks/>
          </p:cNvSpPr>
          <p:nvPr/>
        </p:nvSpPr>
        <p:spPr>
          <a:xfrm>
            <a:off x="838199" y="5622354"/>
            <a:ext cx="5245611" cy="3447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500" b="1" dirty="0"/>
              <a:t>Key Takeaway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237C7A-931E-B145-8F35-9AEF2A672515}"/>
              </a:ext>
            </a:extLst>
          </p:cNvPr>
          <p:cNvSpPr txBox="1"/>
          <p:nvPr/>
        </p:nvSpPr>
        <p:spPr>
          <a:xfrm>
            <a:off x="806195" y="5887530"/>
            <a:ext cx="73792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dirty="0"/>
              <a:t>This valuation should be viewed as one possible estimate based on the assumptions used rather than a precise prediction of TCS's future market value.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69922A-D2B3-EB4C-4DD2-468899358F47}"/>
              </a:ext>
            </a:extLst>
          </p:cNvPr>
          <p:cNvSpPr txBox="1"/>
          <p:nvPr/>
        </p:nvSpPr>
        <p:spPr>
          <a:xfrm>
            <a:off x="8306562" y="6552307"/>
            <a:ext cx="36446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i="1" dirty="0"/>
              <a:t>Harsh </a:t>
            </a:r>
            <a:r>
              <a:rPr lang="en-IN" sz="1200" i="1" dirty="0" err="1"/>
              <a:t>Gaggar</a:t>
            </a:r>
            <a:r>
              <a:rPr lang="en-IN" sz="1200" i="1" dirty="0"/>
              <a:t> | Equity Research Report | July 2026</a:t>
            </a:r>
          </a:p>
        </p:txBody>
      </p:sp>
    </p:spTree>
    <p:extLst>
      <p:ext uri="{BB962C8B-B14F-4D97-AF65-F5344CB8AC3E}">
        <p14:creationId xmlns:p14="http://schemas.microsoft.com/office/powerpoint/2010/main" val="512187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EDBF0-7A16-E53C-8EBC-8CAA4F823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7620" y="9779"/>
            <a:ext cx="3587496" cy="924179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C1F11-3A42-4251-83FE-777FC9764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568" y="924179"/>
            <a:ext cx="10515600" cy="4095877"/>
          </a:xfrm>
        </p:spPr>
        <p:txBody>
          <a:bodyPr>
            <a:normAutofit/>
          </a:bodyPr>
          <a:lstStyle/>
          <a:p>
            <a:r>
              <a:rPr lang="en-IN" b="1" dirty="0"/>
              <a:t>Valuation Summary</a:t>
            </a:r>
          </a:p>
          <a:p>
            <a:pPr marL="0" indent="0">
              <a:buNone/>
            </a:pPr>
            <a:r>
              <a:rPr lang="en-IN" sz="1500" dirty="0"/>
              <a:t>Based on the Discounted Cash Flow (DCF) model developed in this report, the estimated </a:t>
            </a:r>
            <a:r>
              <a:rPr lang="en-IN" sz="1500" b="1" dirty="0"/>
              <a:t>intrinsic value of TCS is ₹2,049.71 per share</a:t>
            </a:r>
            <a:r>
              <a:rPr lang="en-IN" sz="1500" dirty="0"/>
              <a:t> under the assumptions used. The valuation reflects TCS's strong cash-generating ability, stable operating margins, and resilient business model. However, the estimated value is sensitive to changes in key assumptions such as revenue growth, WACC, and terminal growth rate</a:t>
            </a:r>
          </a:p>
          <a:p>
            <a:r>
              <a:rPr lang="en-IN" b="1" dirty="0"/>
              <a:t>Key Learnings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500" dirty="0"/>
              <a:t>Through this project, I gained practical experience in: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500" dirty="0"/>
              <a:t>Building a complete DCF valuation model from scratch.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500" dirty="0"/>
              <a:t>Forecasting financial statements and estimating future free cash flows.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500" dirty="0"/>
              <a:t>Calculating Enterprise Value, Equity Value, and Intrinsic Value.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500" dirty="0"/>
              <a:t>Understanding the impact of valuation assumptions on investment decisions.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500" dirty="0"/>
              <a:t>Presenting financial analysis in a structured equity research format. </a:t>
            </a:r>
          </a:p>
          <a:p>
            <a:pPr marL="342900" indent="-342900">
              <a:buFont typeface="+mj-lt"/>
              <a:buAutoNum type="arabicPeriod"/>
            </a:pPr>
            <a:endParaRPr lang="en-IN" sz="1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C772D6F-2BF5-4C2C-2682-A3954F5BE4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659955"/>
              </p:ext>
            </p:extLst>
          </p:nvPr>
        </p:nvGraphicFramePr>
        <p:xfrm>
          <a:off x="6812280" y="2247175"/>
          <a:ext cx="5120640" cy="26722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51089036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3582716404"/>
                    </a:ext>
                  </a:extLst>
                </a:gridCol>
              </a:tblGrid>
              <a:tr h="427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Finance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Analytics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113253"/>
                  </a:ext>
                </a:extLst>
              </a:tr>
              <a:tr h="748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Financial Statement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Microsoft Excel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116559"/>
                  </a:ext>
                </a:extLst>
              </a:tr>
              <a:tr h="427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Financial Forecasting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Financial Modeling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114681"/>
                  </a:ext>
                </a:extLst>
              </a:tr>
              <a:tr h="427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Discounted Cash Flow (DCF)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4537435"/>
                  </a:ext>
                </a:extLst>
              </a:tr>
              <a:tr h="427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Valuation Techniques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Business Communication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07018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74DB972-C7EA-BD08-BB4B-3065DB836B07}"/>
              </a:ext>
            </a:extLst>
          </p:cNvPr>
          <p:cNvSpPr txBox="1"/>
          <p:nvPr/>
        </p:nvSpPr>
        <p:spPr>
          <a:xfrm>
            <a:off x="771906" y="5148991"/>
            <a:ext cx="967892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i="1" dirty="0"/>
              <a:t>This report was prepared as a personal finance project to strengthen my understanding of financial </a:t>
            </a:r>
            <a:r>
              <a:rPr lang="en-IN" sz="1500" i="1" dirty="0" err="1"/>
              <a:t>modeling</a:t>
            </a:r>
            <a:r>
              <a:rPr lang="en-IN" sz="1500" i="1" dirty="0"/>
              <a:t>, valuation, and equity research. The analysis is intended for educational and portfolio purposes and should not be considered investment advice.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58161A-0183-BFDD-1BF7-8465F62FA46E}"/>
              </a:ext>
            </a:extLst>
          </p:cNvPr>
          <p:cNvSpPr txBox="1"/>
          <p:nvPr/>
        </p:nvSpPr>
        <p:spPr>
          <a:xfrm>
            <a:off x="8306562" y="6552307"/>
            <a:ext cx="36446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i="1" dirty="0"/>
              <a:t>Harsh </a:t>
            </a:r>
            <a:r>
              <a:rPr lang="en-IN" sz="1200" i="1" dirty="0" err="1"/>
              <a:t>Gaggar</a:t>
            </a:r>
            <a:r>
              <a:rPr lang="en-IN" sz="1200" i="1" dirty="0"/>
              <a:t> | Equity Research Report | July 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7FB164-D4E4-FF75-9B26-6BDAD8027FB9}"/>
              </a:ext>
            </a:extLst>
          </p:cNvPr>
          <p:cNvSpPr txBox="1"/>
          <p:nvPr/>
        </p:nvSpPr>
        <p:spPr>
          <a:xfrm>
            <a:off x="614934" y="5933821"/>
            <a:ext cx="34998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dirty="0"/>
              <a:t>Sources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TCS Annual Reports (FY22–FY25)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Screener.in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Company Investor Presentations</a:t>
            </a:r>
          </a:p>
        </p:txBody>
      </p:sp>
    </p:spTree>
    <p:extLst>
      <p:ext uri="{BB962C8B-B14F-4D97-AF65-F5344CB8AC3E}">
        <p14:creationId xmlns:p14="http://schemas.microsoft.com/office/powerpoint/2010/main" val="3961834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93C58-2E47-21BF-CCC3-7CA6E245C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785360" cy="979043"/>
          </a:xfrm>
        </p:spPr>
        <p:txBody>
          <a:bodyPr/>
          <a:lstStyle/>
          <a:p>
            <a:r>
              <a:rPr lang="en-US" dirty="0"/>
              <a:t>Sensitivity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8110F-B29D-9807-16BC-B50175CF2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4169"/>
            <a:ext cx="10335768" cy="979044"/>
          </a:xfrm>
        </p:spPr>
        <p:txBody>
          <a:bodyPr/>
          <a:lstStyle/>
          <a:p>
            <a:pPr marL="0" indent="0">
              <a:buNone/>
            </a:pPr>
            <a:r>
              <a:rPr lang="en-IN" i="1" dirty="0"/>
              <a:t>Impact of changes in WACC and Terminal Growth on Intrinsic Value per Share</a:t>
            </a:r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D831DB-378F-FA99-19A3-8E2B228E58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9275525"/>
              </p:ext>
            </p:extLst>
          </p:nvPr>
        </p:nvGraphicFramePr>
        <p:xfrm>
          <a:off x="1062736" y="2466170"/>
          <a:ext cx="8128000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81481512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8995853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2432808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00453902"/>
                    </a:ext>
                  </a:extLst>
                </a:gridCol>
              </a:tblGrid>
              <a:tr h="29531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WACC ↓ / Terminal Growth →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/>
                        <a:t>2%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/>
                        <a:t>3%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/>
                        <a:t>4%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0462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/>
                        <a:t>10%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₹2,116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₹2,340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₹2,640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688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/>
                        <a:t>11%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₹1,881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₹2,049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₹2,266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3049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/>
                        <a:t>12%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₹1,694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₹1,824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₹1,986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225844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589534A-17A2-56F7-9744-E74D300E3C26}"/>
              </a:ext>
            </a:extLst>
          </p:cNvPr>
          <p:cNvSpPr txBox="1"/>
          <p:nvPr/>
        </p:nvSpPr>
        <p:spPr>
          <a:xfrm>
            <a:off x="1062736" y="4867500"/>
            <a:ext cx="95625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Observation:</a:t>
            </a:r>
            <a:r>
              <a:rPr lang="en-IN" dirty="0"/>
              <a:t> Lower discount rates and higher terminal growth assumptions increase the estimated intrinsic value, highlighting the sensitivity of DCF valuations to key assumptions.</a:t>
            </a:r>
          </a:p>
        </p:txBody>
      </p:sp>
    </p:spTree>
    <p:extLst>
      <p:ext uri="{BB962C8B-B14F-4D97-AF65-F5344CB8AC3E}">
        <p14:creationId xmlns:p14="http://schemas.microsoft.com/office/powerpoint/2010/main" val="3723122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1160</Words>
  <Application>Microsoft Office PowerPoint</Application>
  <PresentationFormat>Widescreen</PresentationFormat>
  <Paragraphs>194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Tata Consultancy Services Ltd. (TCS)</vt:lpstr>
      <vt:lpstr>Company Overview</vt:lpstr>
      <vt:lpstr>Historical Financial Performance</vt:lpstr>
      <vt:lpstr>Discounted Cash Flow (DCF) Valuation Methodology</vt:lpstr>
      <vt:lpstr>Valuation Summary</vt:lpstr>
      <vt:lpstr>Investment Risks &amp; Limitations</vt:lpstr>
      <vt:lpstr>Conclusion</vt:lpstr>
      <vt:lpstr>Sensitivity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3</cp:revision>
  <dcterms:created xsi:type="dcterms:W3CDTF">2026-07-08T22:17:41Z</dcterms:created>
  <dcterms:modified xsi:type="dcterms:W3CDTF">2026-07-09T13:44:43Z</dcterms:modified>
</cp:coreProperties>
</file>